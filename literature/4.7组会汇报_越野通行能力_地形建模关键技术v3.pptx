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4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3" Type="http://schemas.openxmlformats.org/officeDocument/2006/relationships/notesSlide" Target="../notesSlides/notesSlide4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3.png"/><Relationship Id="rId20" Type="http://schemas.openxmlformats.org/officeDocument/2006/relationships/image" Target="../media/image2.png"/><Relationship Id="rId2" Type="http://schemas.openxmlformats.org/officeDocument/2006/relationships/tags" Target="../tags/tag8.xml"/><Relationship Id="rId19" Type="http://schemas.openxmlformats.org/officeDocument/2006/relationships/image" Target="../media/image1.png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4.13</a:t>
            </a:r>
            <a:r>
              <a:rPr lang="zh-CN" altLang="en-US" sz="30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</a:t>
            </a:r>
            <a:endParaRPr lang="zh-CN" altLang="en-US" sz="30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102485"/>
            <a:ext cx="351218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考虑</a:t>
            </a:r>
            <a:r>
              <a:rPr lang="zh-CN" altLang="en-US" sz="1600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坡度方向性</a:t>
            </a:r>
            <a:r>
              <a:rPr lang="en-US" sz="1600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的通行阻碍度建模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2743200" cy="0"/>
          </a:xfrm>
          <a:prstGeom prst="line">
            <a:avLst/>
          </a:prstGeom>
          <a:noFill/>
          <a:ln w="25400">
            <a:solidFill>
              <a:srgbClr val="2B5797"/>
            </a:solidFill>
            <a:prstDash val="solid"/>
          </a:ln>
        </p:spPr>
      </p:sp>
      <p:sp>
        <p:nvSpPr>
          <p:cNvPr id="7" name="文本框 6"/>
          <p:cNvSpPr txBox="1"/>
          <p:nvPr/>
        </p:nvSpPr>
        <p:spPr>
          <a:xfrm>
            <a:off x="731520" y="274383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陈茁</a:t>
            </a:r>
            <a:endParaRPr lang="zh-CN" alt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DEM能提取的地形特征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从微分几何的角度，DEM高程场 z(x,y) 的地形信息分为两个层次：</a:t>
            </a:r>
            <a:endParaRPr lang="en-US" sz="13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548640" y="1417320"/>
            <a:ext cx="3840480" cy="2377440"/>
          </a:xfrm>
          <a:prstGeom prst="rect">
            <a:avLst/>
          </a:prstGeom>
          <a:solidFill>
            <a:srgbClr val="E8F4FD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548640" y="146304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一阶导数 → 坡度</a:t>
            </a: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777240" y="1874520"/>
            <a:ext cx="338328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∂z/∂x , ∂z/∂y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物理含义：地面在某一点有多陡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对通行的影响：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坡度越大 → 重力沿坡分量越大 → 通行阻力越大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现有模型已包含此信息</a:t>
            </a:r>
            <a:endParaRPr lang="en-US" sz="1400" dirty="0"/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4754880" y="1417320"/>
            <a:ext cx="3840480" cy="2377440"/>
          </a:xfrm>
          <a:prstGeom prst="rect">
            <a:avLst/>
          </a:prstGeom>
          <a:solidFill>
            <a:srgbClr val="FFF3E8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4754880" y="146304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二阶导数 → 曲率</a:t>
            </a:r>
            <a:endParaRPr lang="en-US" sz="160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4983480" y="1874520"/>
            <a:ext cx="338328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∂²z/∂x² , ∂²z/∂y² , ∂²z/∂x∂y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物理含义：地形弯曲变化有多剧烈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对通行的影响：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曲率越大 → 坡度突变/起伏剧烈 → 通行风险越高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现有模型中缺失，本次工作补充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地形特征一：坡度的提取方法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3×3高程窗口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6215" y="1280160"/>
            <a:ext cx="50292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215" y="12801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99135" y="1280160"/>
            <a:ext cx="50292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135" y="12801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02055" y="1280160"/>
            <a:ext cx="50292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2055" y="12801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6215" y="1783080"/>
            <a:ext cx="50292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215" y="1783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9135" y="1783080"/>
            <a:ext cx="502920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135" y="1783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02055" y="1783080"/>
            <a:ext cx="50292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2055" y="1783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6215" y="2286000"/>
            <a:ext cx="50292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215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z₇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135" y="2286000"/>
            <a:ext cx="50292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135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02055" y="2286000"/>
            <a:ext cx="50292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2055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0" y="96012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一阶偏导数（坡度分量）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60320" y="1280160"/>
            <a:ext cx="603504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1325880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 = ∂z/∂x = ( z₆− z₄) / (2d)　　H = ∂z/∂y = ( z₂− z₈) / (2d)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坡度角：α = arctan(√(G² + H²))　　坡向角：θ_a = arctan(H / G)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24815" y="29489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坡度→通行阻碍度的映射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24815" y="3314700"/>
            <a:ext cx="8046720" cy="506095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9135" y="336042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R_slope = sinα　（物理含义：重力沿坡面的分量占比）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α=0°→R=0（平地无阻碍）　α=30°→R=0.5（一半重力沿坡）　α=90°→R=1（完全不可通行）</a:t>
            </a:r>
            <a:endParaRPr lang="en-US" sz="1300" dirty="0"/>
          </a:p>
        </p:txBody>
      </p:sp>
      <p:sp>
        <p:nvSpPr>
          <p:cNvPr id="32" name="文本框 31"/>
          <p:cNvSpPr txBox="1"/>
          <p:nvPr/>
        </p:nvSpPr>
        <p:spPr>
          <a:xfrm>
            <a:off x="342265" y="3909695"/>
            <a:ext cx="7082155" cy="24511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000"/>
              <a:t>考虑质量为</a:t>
            </a:r>
            <a:r>
              <a:rPr lang="en-US" altLang="zh-CN" sz="1000"/>
              <a:t> m </a:t>
            </a:r>
            <a:r>
              <a:rPr lang="zh-CN" altLang="en-US" sz="1000"/>
              <a:t>的车辆在坡度 </a:t>
            </a:r>
            <a:r>
              <a:rPr lang="en-US" altLang="zh-CN" sz="1000"/>
              <a:t>α </a:t>
            </a:r>
            <a:r>
              <a:rPr lang="zh-CN" altLang="en-US" sz="1000"/>
              <a:t>的斜面上匀速行驶（加速度为零，对应临界状态），把重力分解为沿坡和垂直坡的两个分量：</a:t>
            </a:r>
            <a:endParaRPr lang="zh-CN" altLang="en-US" sz="1000"/>
          </a:p>
        </p:txBody>
      </p:sp>
      <p:sp>
        <p:nvSpPr>
          <p:cNvPr id="33" name="文本框 32"/>
          <p:cNvSpPr txBox="1"/>
          <p:nvPr/>
        </p:nvSpPr>
        <p:spPr>
          <a:xfrm>
            <a:off x="342265" y="4553268"/>
            <a:ext cx="5080000" cy="24511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000"/>
              <a:t>定义</a:t>
            </a:r>
            <a:r>
              <a:rPr lang="en-US" altLang="zh-CN" sz="1000"/>
              <a:t>"</a:t>
            </a:r>
            <a:r>
              <a:rPr lang="zh-CN" altLang="en-US" sz="1000"/>
              <a:t>重力沿坡分量占总重力的比例</a:t>
            </a:r>
            <a:r>
              <a:rPr lang="en-US" altLang="zh-CN" sz="1000"/>
              <a:t>"</a:t>
            </a:r>
            <a:r>
              <a:rPr lang="zh-CN" altLang="en-US" sz="1000"/>
              <a:t>为坡度阻碍度：</a:t>
            </a:r>
            <a:r>
              <a:rPr lang="en-US" altLang="zh-CN" sz="1000"/>
              <a:t>R_slope = F1/mg = </a:t>
            </a:r>
            <a:r>
              <a:rPr lang="en-US" altLang="zh-CN" sz="1000">
                <a:sym typeface="+mn-ea"/>
              </a:rPr>
              <a:t>sinα </a:t>
            </a:r>
            <a:r>
              <a:rPr lang="en-US" altLang="zh-CN" sz="1000">
                <a:sym typeface="+mn-ea"/>
              </a:rPr>
              <a:t>∈[0,1]</a:t>
            </a:r>
            <a:endParaRPr lang="en-US" altLang="zh-CN" sz="1000"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24815" y="4154805"/>
            <a:ext cx="2550160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000"/>
              <a:t>F1​=mgsinα </a:t>
            </a:r>
            <a:r>
              <a:rPr lang="zh-CN" altLang="en-US" sz="1000"/>
              <a:t>沿坡向下，需要牵引力克服</a:t>
            </a:r>
            <a:endParaRPr lang="zh-CN" altLang="en-US" sz="1000"/>
          </a:p>
          <a:p>
            <a:r>
              <a:rPr lang="en-US" altLang="zh-CN" sz="1000"/>
              <a:t>F2​=mgcosα </a:t>
            </a:r>
            <a:r>
              <a:rPr lang="zh-CN" altLang="en-US" sz="1000"/>
              <a:t>压向坡面，决定滑动</a:t>
            </a:r>
            <a:r>
              <a:rPr lang="zh-CN" altLang="en-US" sz="1000"/>
              <a:t>摩擦</a:t>
            </a:r>
            <a:endParaRPr lang="zh-CN" alt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地形特征二：曲率的</a:t>
            </a:r>
            <a:r>
              <a:rPr lang="zh-CN" alt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提取</a:t>
            </a: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233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1：从同一个3×3窗口</a:t>
            </a:r>
            <a:r>
              <a:rPr lang="zh-CN" altLang="en-US" sz="14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拟合曲面</a:t>
            </a:r>
            <a:r>
              <a:rPr lang="en-US" sz="14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提取二阶偏导数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6225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2：计算三类曲率（Zevenbergen, 1987）</a:t>
            </a:r>
            <a:endParaRPr lang="en-US" sz="1400" dirty="0"/>
          </a:p>
        </p:txBody>
      </p:sp>
      <p:sp>
        <p:nvSpPr>
          <p:cNvPr id="9" name="Shape 7"/>
          <p:cNvSpPr/>
          <p:nvPr>
            <p:custDataLst>
              <p:tags r:id="rId1"/>
            </p:custDataLst>
          </p:nvPr>
        </p:nvSpPr>
        <p:spPr>
          <a:xfrm>
            <a:off x="965024" y="3082925"/>
            <a:ext cx="2431895" cy="1854835"/>
          </a:xfrm>
          <a:prstGeom prst="rect">
            <a:avLst/>
          </a:prstGeom>
          <a:solidFill>
            <a:srgbClr val="E3F2FD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>
            <p:custDataLst>
              <p:tags r:id="rId2"/>
            </p:custDataLst>
          </p:nvPr>
        </p:nvSpPr>
        <p:spPr>
          <a:xfrm>
            <a:off x="965024" y="3124144"/>
            <a:ext cx="2431895" cy="2473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剖面曲率 κ_prof</a:t>
            </a:r>
            <a:endParaRPr lang="en-US" sz="1200" dirty="0"/>
          </a:p>
        </p:txBody>
      </p:sp>
      <p:sp>
        <p:nvSpPr>
          <p:cNvPr id="11" name="Text 9"/>
          <p:cNvSpPr/>
          <p:nvPr>
            <p:custDataLst>
              <p:tags r:id="rId3"/>
            </p:custDataLst>
          </p:nvPr>
        </p:nvSpPr>
        <p:spPr>
          <a:xfrm>
            <a:off x="1047461" y="3371455"/>
            <a:ext cx="2267021" cy="4121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−2(DG²+EH²+FGH)/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[(G²+H²)(1+G²+H²)^1.5]</a:t>
            </a:r>
            <a:endParaRPr lang="en-US" sz="900" dirty="0"/>
          </a:p>
        </p:txBody>
      </p:sp>
      <p:sp>
        <p:nvSpPr>
          <p:cNvPr id="12" name="Shape 10"/>
          <p:cNvSpPr/>
          <p:nvPr>
            <p:custDataLst>
              <p:tags r:id="rId4"/>
            </p:custDataLst>
          </p:nvPr>
        </p:nvSpPr>
        <p:spPr>
          <a:xfrm>
            <a:off x="1212335" y="3783640"/>
            <a:ext cx="193727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5"/>
            </p:custDataLst>
          </p:nvPr>
        </p:nvSpPr>
        <p:spPr>
          <a:xfrm>
            <a:off x="1047461" y="3824859"/>
            <a:ext cx="2267021" cy="2473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沿</a:t>
            </a:r>
            <a:r>
              <a:rPr lang="zh-CN" altLang="en-US" sz="1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梯度</a:t>
            </a:r>
            <a:r>
              <a:rPr lang="en-US" sz="1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方向的弯曲程度</a:t>
            </a:r>
            <a:endParaRPr lang="en-US" sz="1000" dirty="0"/>
          </a:p>
        </p:txBody>
      </p:sp>
      <p:sp>
        <p:nvSpPr>
          <p:cNvPr id="14" name="Text 12"/>
          <p:cNvSpPr/>
          <p:nvPr>
            <p:custDataLst>
              <p:tags r:id="rId6"/>
            </p:custDataLst>
          </p:nvPr>
        </p:nvSpPr>
        <p:spPr>
          <a:xfrm>
            <a:off x="1088679" y="4072170"/>
            <a:ext cx="2184583" cy="7831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正值=凸坡(坡度向前变缓)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负值=凹坡(坡度向前变陡)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|κ_prof|大 = 坡度突变剧烈</a:t>
            </a:r>
            <a:endParaRPr lang="en-US" sz="900" dirty="0"/>
          </a:p>
        </p:txBody>
      </p:sp>
      <p:sp>
        <p:nvSpPr>
          <p:cNvPr id="15" name="Shape 13"/>
          <p:cNvSpPr/>
          <p:nvPr>
            <p:custDataLst>
              <p:tags r:id="rId7"/>
            </p:custDataLst>
          </p:nvPr>
        </p:nvSpPr>
        <p:spPr>
          <a:xfrm>
            <a:off x="3561793" y="3082925"/>
            <a:ext cx="2431895" cy="1854835"/>
          </a:xfrm>
          <a:prstGeom prst="rect">
            <a:avLst/>
          </a:prstGeom>
          <a:solidFill>
            <a:srgbClr val="FFF3E0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3561793" y="3124144"/>
            <a:ext cx="2431895" cy="2473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平面曲率 κ_plan</a:t>
            </a:r>
            <a:endParaRPr lang="en-US" sz="1200" dirty="0"/>
          </a:p>
        </p:txBody>
      </p:sp>
      <p:sp>
        <p:nvSpPr>
          <p:cNvPr id="17" name="Text 15"/>
          <p:cNvSpPr/>
          <p:nvPr>
            <p:custDataLst>
              <p:tags r:id="rId9"/>
            </p:custDataLst>
          </p:nvPr>
        </p:nvSpPr>
        <p:spPr>
          <a:xfrm>
            <a:off x="3644230" y="3371455"/>
            <a:ext cx="2267021" cy="4121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2(DH²+EG²−FGH)/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[(G²+H²)(1+G²+H²)^0.5]</a:t>
            </a:r>
            <a:endParaRPr lang="en-US" sz="900" dirty="0"/>
          </a:p>
        </p:txBody>
      </p:sp>
      <p:sp>
        <p:nvSpPr>
          <p:cNvPr id="18" name="Shape 16"/>
          <p:cNvSpPr/>
          <p:nvPr>
            <p:custDataLst>
              <p:tags r:id="rId10"/>
            </p:custDataLst>
          </p:nvPr>
        </p:nvSpPr>
        <p:spPr>
          <a:xfrm>
            <a:off x="3809104" y="3783640"/>
            <a:ext cx="193727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1"/>
            </p:custDataLst>
          </p:nvPr>
        </p:nvSpPr>
        <p:spPr>
          <a:xfrm>
            <a:off x="3644230" y="3824859"/>
            <a:ext cx="2267021" cy="2473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沿等高线方向的弯曲</a:t>
            </a:r>
            <a:endParaRPr lang="en-US" sz="1000" dirty="0"/>
          </a:p>
        </p:txBody>
      </p:sp>
      <p:sp>
        <p:nvSpPr>
          <p:cNvPr id="20" name="Text 18"/>
          <p:cNvSpPr/>
          <p:nvPr>
            <p:custDataLst>
              <p:tags r:id="rId12"/>
            </p:custDataLst>
          </p:nvPr>
        </p:nvSpPr>
        <p:spPr>
          <a:xfrm>
            <a:off x="3685448" y="4072170"/>
            <a:ext cx="2184583" cy="7831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负值=地形汇聚(山谷线)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正值=地形发散(山脊线)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|κ_plan|大 = 地形横向变化大</a:t>
            </a:r>
            <a:endParaRPr lang="en-US" sz="900" dirty="0"/>
          </a:p>
        </p:txBody>
      </p:sp>
      <p:sp>
        <p:nvSpPr>
          <p:cNvPr id="21" name="Shape 19"/>
          <p:cNvSpPr/>
          <p:nvPr>
            <p:custDataLst>
              <p:tags r:id="rId13"/>
            </p:custDataLst>
          </p:nvPr>
        </p:nvSpPr>
        <p:spPr>
          <a:xfrm>
            <a:off x="6158562" y="3082925"/>
            <a:ext cx="2431895" cy="1854835"/>
          </a:xfrm>
          <a:prstGeom prst="rect">
            <a:avLst/>
          </a:prstGeom>
          <a:solidFill>
            <a:srgbClr val="E8F5E9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>
            <p:custDataLst>
              <p:tags r:id="rId14"/>
            </p:custDataLst>
          </p:nvPr>
        </p:nvSpPr>
        <p:spPr>
          <a:xfrm>
            <a:off x="6158562" y="3124144"/>
            <a:ext cx="2431895" cy="2473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均值曲率 κ_mean</a:t>
            </a:r>
            <a:endParaRPr lang="en-US" sz="1200" dirty="0"/>
          </a:p>
        </p:txBody>
      </p:sp>
      <p:sp>
        <p:nvSpPr>
          <p:cNvPr id="23" name="Text 21"/>
          <p:cNvSpPr/>
          <p:nvPr>
            <p:custDataLst>
              <p:tags r:id="rId15"/>
            </p:custDataLst>
          </p:nvPr>
        </p:nvSpPr>
        <p:spPr>
          <a:xfrm>
            <a:off x="6240999" y="3371455"/>
            <a:ext cx="2267021" cy="4121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−[(1+H²)D−FGH+(1+G²)E]/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(1+G²+H²)^1.5</a:t>
            </a:r>
            <a:endParaRPr lang="en-US" sz="900" dirty="0"/>
          </a:p>
        </p:txBody>
      </p:sp>
      <p:sp>
        <p:nvSpPr>
          <p:cNvPr id="24" name="Shape 22"/>
          <p:cNvSpPr/>
          <p:nvPr>
            <p:custDataLst>
              <p:tags r:id="rId16"/>
            </p:custDataLst>
          </p:nvPr>
        </p:nvSpPr>
        <p:spPr>
          <a:xfrm>
            <a:off x="6405873" y="3783640"/>
            <a:ext cx="193727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>
            <p:custDataLst>
              <p:tags r:id="rId17"/>
            </p:custDataLst>
          </p:nvPr>
        </p:nvSpPr>
        <p:spPr>
          <a:xfrm>
            <a:off x="6240999" y="3824859"/>
            <a:ext cx="2267021" cy="2473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整体表面弯曲强度</a:t>
            </a:r>
            <a:endParaRPr lang="en-US" sz="1000" dirty="0"/>
          </a:p>
        </p:txBody>
      </p:sp>
      <p:sp>
        <p:nvSpPr>
          <p:cNvPr id="26" name="Text 24"/>
          <p:cNvSpPr/>
          <p:nvPr>
            <p:custDataLst>
              <p:tags r:id="rId18"/>
            </p:custDataLst>
          </p:nvPr>
        </p:nvSpPr>
        <p:spPr>
          <a:xfrm>
            <a:off x="6282217" y="4072170"/>
            <a:ext cx="2184583" cy="7831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综合两个方向的弯曲信息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值越大=局部地形越复杂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直接反映地形崎岖程度</a:t>
            </a:r>
            <a:endParaRPr lang="en-US" sz="900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52215" y="1267460"/>
            <a:ext cx="5015865" cy="1403350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4533900" y="853440"/>
            <a:ext cx="404749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ct val="60000"/>
              </a:spcAft>
            </a:pPr>
            <a:r>
              <a:rPr lang="zh-CN" altLang="en-US" sz="1600" b="1" i="0">
                <a:solidFill>
                  <a:srgbClr val="1A1A18"/>
                </a:solidFill>
                <a:latin typeface="Noto Sans SC" panose="020B0200000000000000" charset="-122"/>
                <a:ea typeface="Noto Sans SC" panose="020B0200000000000000" charset="-122"/>
              </a:rPr>
              <a:t>拟合曲面：</a:t>
            </a:r>
            <a:r>
              <a:rPr lang="en-US" altLang="zh-CN" sz="1600" b="1" i="0">
                <a:solidFill>
                  <a:srgbClr val="1A1A18"/>
                </a:solidFill>
                <a:latin typeface="Noto Sans SC" panose="020B0200000000000000" charset="-122"/>
                <a:ea typeface="Noto Sans SC" panose="020B0200000000000000" charset="-122"/>
              </a:rPr>
              <a:t>Z = Ax² + By² + Cxy + Dx + Ey + F</a:t>
            </a:r>
            <a:endParaRPr lang="en-US" altLang="zh-CN" sz="1600" b="1" i="0">
              <a:solidFill>
                <a:srgbClr val="1A1A1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31" name="图片 30"/>
          <p:cNvPicPr/>
          <p:nvPr/>
        </p:nvPicPr>
        <p:blipFill>
          <a:blip r:embed="rId20"/>
          <a:stretch>
            <a:fillRect/>
          </a:stretch>
        </p:blipFill>
        <p:spPr>
          <a:xfrm>
            <a:off x="143510" y="1311910"/>
            <a:ext cx="1477645" cy="991870"/>
          </a:xfrm>
          <a:prstGeom prst="rect">
            <a:avLst/>
          </a:prstGeom>
        </p:spPr>
      </p:pic>
      <p:pic>
        <p:nvPicPr>
          <p:cNvPr id="32" name="图片 31"/>
          <p:cNvPicPr/>
          <p:nvPr/>
        </p:nvPicPr>
        <p:blipFill>
          <a:blip r:embed="rId21"/>
          <a:stretch>
            <a:fillRect/>
          </a:stretch>
        </p:blipFill>
        <p:spPr>
          <a:xfrm>
            <a:off x="1740535" y="1318260"/>
            <a:ext cx="1656080" cy="984885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450850" y="2302510"/>
            <a:ext cx="7004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剖面曲率</a:t>
            </a:r>
            <a:endParaRPr lang="zh-CN" altLang="en-US" sz="1000"/>
          </a:p>
        </p:txBody>
      </p:sp>
      <p:sp>
        <p:nvSpPr>
          <p:cNvPr id="34" name="文本框 33"/>
          <p:cNvSpPr txBox="1"/>
          <p:nvPr/>
        </p:nvSpPr>
        <p:spPr>
          <a:xfrm>
            <a:off x="2220595" y="2301875"/>
            <a:ext cx="8185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平面曲率</a:t>
            </a:r>
            <a:endParaRPr lang="zh-CN" alt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081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曲率反映通行阻碍</a:t>
            </a:r>
            <a:r>
              <a:rPr lang="zh-CN" alt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度</a:t>
            </a:r>
            <a:endParaRPr lang="zh-CN" altLang="en-US" sz="24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848360" y="894715"/>
            <a:ext cx="3588125" cy="1835785"/>
          </a:xfrm>
          <a:prstGeom prst="rect">
            <a:avLst/>
          </a:prstGeom>
          <a:solidFill>
            <a:srgbClr val="E3F2FD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848360" y="792927"/>
            <a:ext cx="3588125" cy="2920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剖面曲率大 → 坡度沿行进方向突变</a:t>
            </a:r>
            <a:endParaRPr lang="en-US" sz="12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056972" y="1126706"/>
            <a:ext cx="3170901" cy="11508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场景举例：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车辆正在爬一个平缓坡，突然前方坡度急剧变陡（凹面转折）或急剧变平（凸面转折）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通行影响：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凸转折(κ_prof&gt;0)：车辆前部可能悬空失去附着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凹转折(κ_prof&lt;0)：车辆底盘可能触地托底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4603375" y="894715"/>
            <a:ext cx="3588125" cy="1835785"/>
          </a:xfrm>
          <a:prstGeom prst="rect">
            <a:avLst/>
          </a:prstGeom>
          <a:solidFill>
            <a:srgbClr val="FFF3E0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4603375" y="936437"/>
            <a:ext cx="3588125" cy="2920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平面曲率大 → 地形横向收束或发散</a:t>
            </a:r>
            <a:endParaRPr lang="en-US" sz="12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4811987" y="1270216"/>
            <a:ext cx="3170901" cy="11508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场景举例：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山谷底部(κ_plan&lt;0)地形向中间汇聚，通行空间受限；山脊处(κ_plan&gt;0)地形向两侧发散，通道狭窄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通行影响：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高汇聚区：可通行宽度受限，转弯困难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山脊线：两侧坡度陡降，偏离即危险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47975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曲率与坡度的独立性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13735"/>
            <a:ext cx="8046720" cy="1096645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02965"/>
            <a:ext cx="7498080" cy="8883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同样是20°坡度的地面：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情况A：均匀斜面 → 坡度=20°，曲率≈0 → 坡度阻碍中等，地形复杂度低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情况B：起伏的山坡 → 平均坡度≈20°，曲率很大 → 坡度阻碍中等，</a:t>
            </a:r>
            <a:endParaRPr lang="en-US" sz="11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但地形复杂度高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2735" y="3213735"/>
            <a:ext cx="3716655" cy="1092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曲率</a:t>
            </a:r>
            <a:r>
              <a:rPr lang="zh-CN" alt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反应</a:t>
            </a: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通行阻碍度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思路：用曲率的绝对值度量地形复杂度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1306195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7498080" cy="1196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综合曲率指标：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κ_total = max{ </a:t>
            </a:r>
            <a:r>
              <a:rPr lang="en-US" altLang="zh-CN" sz="1600" b="1" dirty="0"/>
              <a:t>κ_prof, κ_plan }</a:t>
            </a:r>
            <a:endParaRPr lang="en-US" altLang="zh-CN" sz="1600" b="1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κ_total </a:t>
            </a:r>
            <a:r>
              <a:rPr lang="zh-CN" alt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取两类曲率中最大</a:t>
            </a:r>
            <a:r>
              <a:rPr lang="zh-CN" alt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</a:t>
            </a:r>
            <a:endParaRPr lang="zh-CN" altLang="en-US" sz="11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78638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通行能力建模</a:t>
            </a:r>
            <a:r>
              <a:rPr lang="en-US" sz="14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152140"/>
            <a:ext cx="8046720" cy="1833245"/>
          </a:xfrm>
          <a:prstGeom prst="rect">
            <a:avLst/>
          </a:prstGeom>
          <a:solidFill>
            <a:srgbClr val="F0F4F8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272155"/>
            <a:ext cx="7498080" cy="9086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κ</a:t>
            </a:r>
            <a:r>
              <a:rPr lang="zh-CN" alt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单位为</a:t>
            </a:r>
            <a:r>
              <a:rPr lang="en-US" altLang="zh-CN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1/m</a:t>
            </a:r>
            <a:r>
              <a:rPr lang="zh-CN" alt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，需要乘上一个距离</a:t>
            </a:r>
            <a:endParaRPr lang="zh-CN" altLang="en-US" sz="1100" dirty="0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>
              <a:buNone/>
            </a:pPr>
            <a:r>
              <a:rPr lang="zh-CN" altLang="en-US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曲率绝对值很小（地面接近平面）</a:t>
            </a:r>
            <a:r>
              <a:rPr lang="en-US" altLang="en-US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→</a:t>
            </a:r>
            <a:r>
              <a:rPr lang="en-US" altLang="zh-CN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</a:t>
            </a:r>
            <a:r>
              <a:rPr lang="zh-CN" altLang="en-US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通行困难度接近</a:t>
            </a:r>
            <a:r>
              <a:rPr lang="en-US" altLang="zh-CN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0</a:t>
            </a:r>
            <a:endParaRPr lang="en-US" altLang="zh-CN" sz="1100" dirty="0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zh-CN" altLang="en-US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曲率绝对值大到接近上面算出的临界值</a:t>
            </a:r>
            <a:r>
              <a:rPr lang="en-US" altLang="zh-CN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</a:t>
            </a:r>
            <a:r>
              <a:rPr lang="en-US" altLang="en-US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→</a:t>
            </a:r>
            <a:r>
              <a:rPr lang="en-US" altLang="zh-CN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</a:t>
            </a:r>
            <a:r>
              <a:rPr lang="zh-CN" altLang="en-US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通行困难度接近</a:t>
            </a:r>
            <a:r>
              <a:rPr lang="en-US" altLang="zh-CN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1</a:t>
            </a:r>
            <a:endParaRPr lang="en-US" altLang="zh-CN" sz="1100" dirty="0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zh-CN" altLang="en-US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曲率绝对值远超过临界值</a:t>
            </a:r>
            <a:r>
              <a:rPr lang="en-US" altLang="zh-CN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</a:t>
            </a:r>
            <a:r>
              <a:rPr lang="en-US" altLang="en-US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→</a:t>
            </a:r>
            <a:r>
              <a:rPr lang="en-US" altLang="zh-CN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</a:t>
            </a:r>
            <a:r>
              <a:rPr lang="zh-CN" altLang="en-US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通行困难度饱和在</a:t>
            </a:r>
            <a:r>
              <a:rPr lang="en-US" altLang="zh-CN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1</a:t>
            </a:r>
            <a:r>
              <a:rPr lang="zh-CN" altLang="en-US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（再大也只是</a:t>
            </a:r>
            <a:r>
              <a:rPr lang="en-US" altLang="zh-CN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"</a:t>
            </a:r>
            <a:r>
              <a:rPr lang="zh-CN" altLang="en-US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非常难走</a:t>
            </a:r>
            <a:r>
              <a:rPr lang="en-US" altLang="zh-CN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"</a:t>
            </a:r>
            <a:r>
              <a:rPr lang="zh-CN" altLang="en-US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，不可能比</a:t>
            </a:r>
            <a:r>
              <a:rPr lang="en-US" altLang="zh-CN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"</a:t>
            </a:r>
            <a:r>
              <a:rPr lang="zh-CN" altLang="en-US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完全走不了</a:t>
            </a:r>
            <a:r>
              <a:rPr lang="en-US" altLang="zh-CN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"</a:t>
            </a:r>
            <a:r>
              <a:rPr lang="zh-CN" altLang="en-US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更糟）</a:t>
            </a:r>
            <a:endParaRPr lang="zh-CN" altLang="en-US" sz="1100" dirty="0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对通行来说，不管是凸(κ&gt;0)还是凹(κ&lt;0)，弯曲越剧烈阻碍越大，所以取绝对值。</a:t>
            </a:r>
            <a:endParaRPr lang="en-US" sz="1100" dirty="0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altLang="zh-CN" sz="1100" b="1" dirty="0">
                <a:sym typeface="+mn-ea"/>
              </a:rPr>
              <a:t>tanh </a:t>
            </a:r>
            <a:r>
              <a:rPr lang="zh-CN" altLang="en-US" sz="1100" b="1" dirty="0">
                <a:sym typeface="+mn-ea"/>
              </a:rPr>
              <a:t>函数的形状</a:t>
            </a:r>
            <a:r>
              <a:rPr lang="en-US" altLang="zh-CN" sz="1100" b="1" dirty="0">
                <a:sym typeface="+mn-ea"/>
              </a:rPr>
              <a:t>——</a:t>
            </a:r>
            <a:r>
              <a:rPr lang="zh-CN" altLang="en-US" sz="1100" b="1" dirty="0">
                <a:sym typeface="+mn-ea"/>
              </a:rPr>
              <a:t>在小输入处近似线性，在大输入处饱和到</a:t>
            </a:r>
            <a:r>
              <a:rPr lang="en-US" altLang="zh-CN" sz="1100" b="1" dirty="0">
                <a:sym typeface="+mn-ea"/>
              </a:rPr>
              <a:t> 1</a:t>
            </a:r>
            <a:endParaRPr lang="en-US" altLang="zh-CN" sz="1100" b="1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R_curvature = </a:t>
            </a:r>
            <a:r>
              <a:rPr lang="en-US" altLang="zh-CN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tanh(∣κ_total∣⋅</a:t>
            </a:r>
            <a:r>
              <a:rPr 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 </a:t>
            </a:r>
            <a:r>
              <a:rPr lang="en-US" altLang="zh-CN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)</a:t>
            </a:r>
            <a:r>
              <a:rPr 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∈(0, 1) , L</a:t>
            </a:r>
            <a:r>
              <a:rPr lang="zh-CN" alt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为栅格分辨率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等高线/</a:t>
            </a:r>
            <a:r>
              <a:rPr lang="zh-CN" alt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山脊山谷线</a:t>
            </a: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等高线</a:t>
            </a:r>
            <a:r>
              <a:rPr lang="zh-CN" altLang="en-US" sz="14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en-US" sz="14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垂直方向</a:t>
            </a:r>
            <a:r>
              <a:rPr lang="zh-CN" altLang="en-US" sz="14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是坡向</a:t>
            </a:r>
            <a:r>
              <a:rPr lang="en-US" sz="1400" b="1" dirty="0">
                <a:solidFill>
                  <a:srgbClr val="2B57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）已经隐含在曲率计算中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143637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749808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剖面曲率的定义就是沿最陡方向（即垂直于等高线方向）的弯曲程度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平面曲率的定义就是沿等高线方向的弯曲程度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也就是说：计算曲率时，坡向（等高线方向）已经自然参与了——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剖面曲率沿坡向截面计算，平面曲率沿等高线截面计算。</a:t>
            </a:r>
            <a:endParaRPr lang="en-US" sz="1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不需要单独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一个坡向因子，因为坡向的几何信息已经通过曲率的计算方式被纳入了。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坡度 + 曲率：双因子地形通行阻碍度模型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1188720"/>
          </a:xfrm>
          <a:prstGeom prst="rect">
            <a:avLst/>
          </a:prstGeom>
          <a:solidFill>
            <a:srgbClr val="E8F5E9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地形通行度（仅考虑地形几何因素）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74980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T_terrain(x,y) = [1 − R_slope(x,y)] × [1 − R_curvature(x,y)]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R_slope = sinα　　　R_curvature = tanh(∣κ_total∣⋅L )</a:t>
            </a:r>
            <a:endParaRPr lang="en-US" altLang="zh-CN" sz="1800" dirty="0"/>
          </a:p>
        </p:txBody>
      </p:sp>
      <p:sp>
        <p:nvSpPr>
          <p:cNvPr id="8" name="文本框 7"/>
          <p:cNvSpPr txBox="1"/>
          <p:nvPr/>
        </p:nvSpPr>
        <p:spPr>
          <a:xfrm>
            <a:off x="548640" y="2842260"/>
            <a:ext cx="57537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后续：</a:t>
            </a:r>
            <a:endParaRPr lang="zh-CN" altLang="en-US"/>
          </a:p>
          <a:p>
            <a:pPr indent="457200"/>
            <a:r>
              <a:rPr lang="zh-CN" altLang="en-US"/>
              <a:t>考虑坡度和曲率因子代价图的计算生成；</a:t>
            </a:r>
            <a:endParaRPr lang="zh-CN" altLang="en-US"/>
          </a:p>
          <a:p>
            <a:pPr indent="457200"/>
            <a:r>
              <a:rPr lang="zh-CN" altLang="en-US"/>
              <a:t>曲率表示的方向与后续路径规划行车方向的</a:t>
            </a:r>
            <a:r>
              <a:rPr lang="zh-CN" altLang="en-US"/>
              <a:t>关系；</a:t>
            </a:r>
            <a:endParaRPr lang="zh-CN" altLang="en-US"/>
          </a:p>
          <a:p>
            <a:pPr indent="457200"/>
            <a:r>
              <a:rPr lang="zh-CN" altLang="en-US"/>
              <a:t>土壤通行能力</a:t>
            </a:r>
            <a:r>
              <a:rPr lang="zh-CN" altLang="en-US"/>
              <a:t>建模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7.2,&quot;left&quot;:43.2,&quot;top&quot;:111.6,&quot;width&quot;:633.6}"/>
</p:tagLst>
</file>

<file path=ppt/tags/tag2.xml><?xml version="1.0" encoding="utf-8"?>
<p:tagLst xmlns:p="http://schemas.openxmlformats.org/presentationml/2006/main">
  <p:tag name="KSO_WM_DIAGRAM_VIRTUALLY_FRAME" val="{&quot;height&quot;:187.2,&quot;left&quot;:43.2,&quot;top&quot;:111.6,&quot;width&quot;:633.6}"/>
</p:tagLst>
</file>

<file path=ppt/tags/tag3.xml><?xml version="1.0" encoding="utf-8"?>
<p:tagLst xmlns:p="http://schemas.openxmlformats.org/presentationml/2006/main">
  <p:tag name="KSO_WM_DIAGRAM_VIRTUALLY_FRAME" val="{&quot;height&quot;:187.2,&quot;left&quot;:43.2,&quot;top&quot;:111.6,&quot;width&quot;:633.6}"/>
</p:tagLst>
</file>

<file path=ppt/tags/tag4.xml><?xml version="1.0" encoding="utf-8"?>
<p:tagLst xmlns:p="http://schemas.openxmlformats.org/presentationml/2006/main">
  <p:tag name="KSO_WM_DIAGRAM_VIRTUALLY_FRAME" val="{&quot;height&quot;:187.2,&quot;left&quot;:43.2,&quot;top&quot;:111.6,&quot;width&quot;:633.6}"/>
</p:tagLst>
</file>

<file path=ppt/tags/tag5.xml><?xml version="1.0" encoding="utf-8"?>
<p:tagLst xmlns:p="http://schemas.openxmlformats.org/presentationml/2006/main">
  <p:tag name="KSO_WM_DIAGRAM_VIRTUALLY_FRAME" val="{&quot;height&quot;:187.2,&quot;left&quot;:43.2,&quot;top&quot;:111.6,&quot;width&quot;:633.6}"/>
</p:tagLst>
</file>

<file path=ppt/tags/tag6.xml><?xml version="1.0" encoding="utf-8"?>
<p:tagLst xmlns:p="http://schemas.openxmlformats.org/presentationml/2006/main">
  <p:tag name="KSO_WM_DIAGRAM_VIRTUALLY_FRAME" val="{&quot;height&quot;:187.2,&quot;left&quot;:43.2,&quot;top&quot;:111.6,&quot;width&quot;:633.6}"/>
</p:tagLst>
</file>

<file path=ppt/tags/tag7.xml><?xml version="1.0" encoding="utf-8"?>
<p:tagLst xmlns:p="http://schemas.openxmlformats.org/presentationml/2006/main">
  <p:tag name="KSO_WM_DIAGRAM_VIRTUALLY_FRAME" val="{&quot;height&quot;:146.05,&quot;left&quot;:43.2,&quot;top&quot;:242.75,&quot;width&quot;:666}"/>
</p:tagLst>
</file>

<file path=ppt/tags/tag8.xml><?xml version="1.0" encoding="utf-8"?>
<p:tagLst xmlns:p="http://schemas.openxmlformats.org/presentationml/2006/main">
  <p:tag name="KSO_WM_DIAGRAM_VIRTUALLY_FRAME" val="{&quot;height&quot;:146.05,&quot;left&quot;:43.2,&quot;top&quot;:242.75,&quot;width&quot;:666}"/>
</p:tagLst>
</file>

<file path=ppt/tags/tag9.xml><?xml version="1.0" encoding="utf-8"?>
<p:tagLst xmlns:p="http://schemas.openxmlformats.org/presentationml/2006/main">
  <p:tag name="KSO_WM_DIAGRAM_VIRTUALLY_FRAME" val="{&quot;height&quot;:146.05,&quot;left&quot;:43.2,&quot;top&quot;:242.75,&quot;width&quot;:666}"/>
</p:tagLst>
</file>

<file path=ppt/tags/tag10.xml><?xml version="1.0" encoding="utf-8"?>
<p:tagLst xmlns:p="http://schemas.openxmlformats.org/presentationml/2006/main">
  <p:tag name="KSO_WM_DIAGRAM_VIRTUALLY_FRAME" val="{&quot;height&quot;:146.05,&quot;left&quot;:43.2,&quot;top&quot;:242.75,&quot;width&quot;:666}"/>
</p:tagLst>
</file>

<file path=ppt/tags/tag11.xml><?xml version="1.0" encoding="utf-8"?>
<p:tagLst xmlns:p="http://schemas.openxmlformats.org/presentationml/2006/main">
  <p:tag name="KSO_WM_DIAGRAM_VIRTUALLY_FRAME" val="{&quot;height&quot;:146.05,&quot;left&quot;:43.2,&quot;top&quot;:242.75,&quot;width&quot;:666}"/>
</p:tagLst>
</file>

<file path=ppt/tags/tag12.xml><?xml version="1.0" encoding="utf-8"?>
<p:tagLst xmlns:p="http://schemas.openxmlformats.org/presentationml/2006/main">
  <p:tag name="KSO_WM_DIAGRAM_VIRTUALLY_FRAME" val="{&quot;height&quot;:146.05,&quot;left&quot;:43.2,&quot;top&quot;:242.75,&quot;width&quot;:666}"/>
</p:tagLst>
</file>

<file path=ppt/tags/tag13.xml><?xml version="1.0" encoding="utf-8"?>
<p:tagLst xmlns:p="http://schemas.openxmlformats.org/presentationml/2006/main">
  <p:tag name="KSO_WM_DIAGRAM_VIRTUALLY_FRAME" val="{&quot;height&quot;:146.05,&quot;left&quot;:43.2,&quot;top&quot;:242.75,&quot;width&quot;:666}"/>
</p:tagLst>
</file>

<file path=ppt/tags/tag14.xml><?xml version="1.0" encoding="utf-8"?>
<p:tagLst xmlns:p="http://schemas.openxmlformats.org/presentationml/2006/main">
  <p:tag name="KSO_WM_DIAGRAM_VIRTUALLY_FRAME" val="{&quot;height&quot;:146.05,&quot;left&quot;:43.2,&quot;top&quot;:242.75,&quot;width&quot;:666}"/>
</p:tagLst>
</file>

<file path=ppt/tags/tag15.xml><?xml version="1.0" encoding="utf-8"?>
<p:tagLst xmlns:p="http://schemas.openxmlformats.org/presentationml/2006/main">
  <p:tag name="KSO_WM_DIAGRAM_VIRTUALLY_FRAME" val="{&quot;height&quot;:146.05,&quot;left&quot;:43.2,&quot;top&quot;:242.75,&quot;width&quot;:666}"/>
</p:tagLst>
</file>

<file path=ppt/tags/tag16.xml><?xml version="1.0" encoding="utf-8"?>
<p:tagLst xmlns:p="http://schemas.openxmlformats.org/presentationml/2006/main">
  <p:tag name="KSO_WM_DIAGRAM_VIRTUALLY_FRAME" val="{&quot;height&quot;:146.05,&quot;left&quot;:43.2,&quot;top&quot;:242.75,&quot;width&quot;:666}"/>
</p:tagLst>
</file>

<file path=ppt/tags/tag17.xml><?xml version="1.0" encoding="utf-8"?>
<p:tagLst xmlns:p="http://schemas.openxmlformats.org/presentationml/2006/main">
  <p:tag name="KSO_WM_DIAGRAM_VIRTUALLY_FRAME" val="{&quot;height&quot;:146.05,&quot;left&quot;:43.2,&quot;top&quot;:242.75,&quot;width&quot;:666}"/>
</p:tagLst>
</file>

<file path=ppt/tags/tag18.xml><?xml version="1.0" encoding="utf-8"?>
<p:tagLst xmlns:p="http://schemas.openxmlformats.org/presentationml/2006/main">
  <p:tag name="KSO_WM_DIAGRAM_VIRTUALLY_FRAME" val="{&quot;height&quot;:146.05,&quot;left&quot;:43.2,&quot;top&quot;:242.75,&quot;width&quot;:666}"/>
</p:tagLst>
</file>

<file path=ppt/tags/tag19.xml><?xml version="1.0" encoding="utf-8"?>
<p:tagLst xmlns:p="http://schemas.openxmlformats.org/presentationml/2006/main">
  <p:tag name="KSO_WM_DIAGRAM_VIRTUALLY_FRAME" val="{&quot;height&quot;:146.05,&quot;left&quot;:43.2,&quot;top&quot;:242.75,&quot;width&quot;:666}"/>
</p:tagLst>
</file>

<file path=ppt/tags/tag20.xml><?xml version="1.0" encoding="utf-8"?>
<p:tagLst xmlns:p="http://schemas.openxmlformats.org/presentationml/2006/main">
  <p:tag name="KSO_WM_DIAGRAM_VIRTUALLY_FRAME" val="{&quot;height&quot;:146.05,&quot;left&quot;:43.2,&quot;top&quot;:242.75,&quot;width&quot;:666}"/>
</p:tagLst>
</file>

<file path=ppt/tags/tag21.xml><?xml version="1.0" encoding="utf-8"?>
<p:tagLst xmlns:p="http://schemas.openxmlformats.org/presentationml/2006/main">
  <p:tag name="KSO_WM_DIAGRAM_VIRTUALLY_FRAME" val="{&quot;height&quot;:146.05,&quot;left&quot;:43.2,&quot;top&quot;:242.75,&quot;width&quot;:666}"/>
</p:tagLst>
</file>

<file path=ppt/tags/tag22.xml><?xml version="1.0" encoding="utf-8"?>
<p:tagLst xmlns:p="http://schemas.openxmlformats.org/presentationml/2006/main">
  <p:tag name="KSO_WM_DIAGRAM_VIRTUALLY_FRAME" val="{&quot;height&quot;:146.05,&quot;left&quot;:43.2,&quot;top&quot;:242.75,&quot;width&quot;:666}"/>
</p:tagLst>
</file>

<file path=ppt/tags/tag23.xml><?xml version="1.0" encoding="utf-8"?>
<p:tagLst xmlns:p="http://schemas.openxmlformats.org/presentationml/2006/main">
  <p:tag name="KSO_WM_DIAGRAM_VIRTUALLY_FRAME" val="{&quot;height&quot;:146.05,&quot;left&quot;:43.2,&quot;top&quot;:242.75,&quot;width&quot;:666}"/>
</p:tagLst>
</file>

<file path=ppt/tags/tag24.xml><?xml version="1.0" encoding="utf-8"?>
<p:tagLst xmlns:p="http://schemas.openxmlformats.org/presentationml/2006/main">
  <p:tag name="KSO_WM_DIAGRAM_VIRTUALLY_FRAME" val="{&quot;height&quot;:146.05,&quot;left&quot;:43.2,&quot;top&quot;:242.75,&quot;width&quot;:666}"/>
</p:tagLst>
</file>

<file path=ppt/tags/tag25.xml><?xml version="1.0" encoding="utf-8"?>
<p:tagLst xmlns:p="http://schemas.openxmlformats.org/presentationml/2006/main">
  <p:tag name="KSO_WM_DIAGRAM_VIRTUALLY_FRAME" val="{&quot;height&quot;:144.55,&quot;left&quot;:39.1,&quot;top&quot;:70.45,&quot;width&quot;:633.6}"/>
</p:tagLst>
</file>

<file path=ppt/tags/tag26.xml><?xml version="1.0" encoding="utf-8"?>
<p:tagLst xmlns:p="http://schemas.openxmlformats.org/presentationml/2006/main">
  <p:tag name="KSO_WM_DIAGRAM_VIRTUALLY_FRAME" val="{&quot;height&quot;:144.55,&quot;left&quot;:39.1,&quot;top&quot;:70.45,&quot;width&quot;:633.6}"/>
</p:tagLst>
</file>

<file path=ppt/tags/tag27.xml><?xml version="1.0" encoding="utf-8"?>
<p:tagLst xmlns:p="http://schemas.openxmlformats.org/presentationml/2006/main">
  <p:tag name="KSO_WM_DIAGRAM_VIRTUALLY_FRAME" val="{&quot;height&quot;:144.55,&quot;left&quot;:39.1,&quot;top&quot;:70.45,&quot;width&quot;:633.6}"/>
</p:tagLst>
</file>

<file path=ppt/tags/tag28.xml><?xml version="1.0" encoding="utf-8"?>
<p:tagLst xmlns:p="http://schemas.openxmlformats.org/presentationml/2006/main">
  <p:tag name="KSO_WM_DIAGRAM_VIRTUALLY_FRAME" val="{&quot;height&quot;:144.55,&quot;left&quot;:39.1,&quot;top&quot;:70.45,&quot;width&quot;:633.6}"/>
</p:tagLst>
</file>

<file path=ppt/tags/tag29.xml><?xml version="1.0" encoding="utf-8"?>
<p:tagLst xmlns:p="http://schemas.openxmlformats.org/presentationml/2006/main">
  <p:tag name="KSO_WM_DIAGRAM_VIRTUALLY_FRAME" val="{&quot;height&quot;:144.55,&quot;left&quot;:39.1,&quot;top&quot;:70.45,&quot;width&quot;:633.6}"/>
</p:tagLst>
</file>

<file path=ppt/tags/tag30.xml><?xml version="1.0" encoding="utf-8"?>
<p:tagLst xmlns:p="http://schemas.openxmlformats.org/presentationml/2006/main">
  <p:tag name="KSO_WM_DIAGRAM_VIRTUALLY_FRAME" val="{&quot;height&quot;:144.55,&quot;left&quot;:39.1,&quot;top&quot;:70.45,&quot;width&quot;:633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2098</Words>
  <Application>WPS 演示</Application>
  <PresentationFormat>On-screen Show (16:9)</PresentationFormat>
  <Paragraphs>197</Paragraphs>
  <Slides>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Avenir Next W01</vt:lpstr>
      <vt:lpstr>ESRI AMFM Electric</vt:lpstr>
      <vt:lpstr>华文楷体</vt:lpstr>
      <vt:lpstr>Noto Sans SC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地形因素对通行能力的分析方法</dc:title>
  <dc:creator>汇报人</dc:creator>
  <dc:subject>PptxGenJS Presentation</dc:subject>
  <cp:lastModifiedBy>cz？！</cp:lastModifiedBy>
  <cp:revision>3</cp:revision>
  <dcterms:created xsi:type="dcterms:W3CDTF">2026-04-05T21:42:00Z</dcterms:created>
  <dcterms:modified xsi:type="dcterms:W3CDTF">2026-04-13T00:25:52Z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4A1EA7CD405F49D483FD123ADE97D17F_12</vt:lpwstr>
  </property>
</Properties>
</file>